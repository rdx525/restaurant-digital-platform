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5778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50292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FOR RESTAURANT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C1916"/>
                </a:solidFill>
                <a:latin typeface="Georgia"/>
              </a:rPr>
              <a:t>Your restaurant.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C1916"/>
                </a:solidFill>
                <a:latin typeface="Georgia"/>
              </a:rPr>
              <a:t>Your customers.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4000" b="1" i="0">
                <a:solidFill>
                  <a:srgbClr val="1C1916"/>
                </a:solidFill>
                <a:latin typeface="Georgia"/>
              </a:rPr>
              <a:t>Your data.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A7B4A"/>
                </a:solidFill>
                <a:latin typeface="Georgia"/>
              </a:rPr>
              <a:t>One platform.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65A"/>
                </a:solidFill>
                <a:latin typeface="Avenir Next"/>
              </a:rPr>
              <a:t>The all-in-one platform that turns your website,
menu, orders, and bookings into one growth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9A9184"/>
                </a:solidFill>
                <a:latin typeface="Avenir Next"/>
              </a:rPr>
              <a:t>Crafted for Aotearoa New Zealand hospitality</a:t>
            </a:r>
          </a:p>
        </p:txBody>
      </p:sp>
      <p:pic>
        <p:nvPicPr>
          <p:cNvPr id="11" name="Picture 10" descr="02-harbour-kit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0"/>
            <a:ext cx="8977745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35040" y="5989320"/>
            <a:ext cx="6217920" cy="868680"/>
          </a:xfrm>
          <a:prstGeom prst="rect">
            <a:avLst/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62636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4C098"/>
                </a:solidFill>
                <a:latin typeface="Avenir Next"/>
              </a:rPr>
              <a:t>Live demo · Harbour Kitchen · Auckland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665A"/>
                </a:solidFill>
                <a:latin typeface="Avenir Next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2062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6576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9184"/>
                </a:solidFill>
                <a:latin typeface="Avenir Next"/>
              </a:rPr>
              <a:t>02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C1916"/>
                </a:solidFill>
                <a:latin typeface="Georgia"/>
              </a:rPr>
              <a:t>Too many disconnected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E665A"/>
                </a:solidFill>
                <a:latin typeface="Avenir Next"/>
              </a:rPr>
              <a:t>Website builders, PDF menus, booking widgets, delivery apps, and spreadsheets — nothing talks to each 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64008" cy="150876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36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Too many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5–10 logins every service — nothing talks to each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88036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880360"/>
            <a:ext cx="64008" cy="150876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3136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Menu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5661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Printed menus and apps go stale the moment a dish is 86’d.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88036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880360"/>
            <a:ext cx="64008" cy="150876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3136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Missed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661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Guests bounce to aggregators — you pay commission on customers you already earned.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720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72000"/>
            <a:ext cx="64008" cy="150876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828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Blind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257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No single view of covers, tickets, waitlist, or guest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5720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572000"/>
            <a:ext cx="64008" cy="150876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4828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Manual grind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257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Staff re-type bookings and answer the same calls every night.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57200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572000"/>
            <a:ext cx="64008" cy="150876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828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No clear ROI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5257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Hard to see what drives spend, repeats, or empty midweek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2062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6576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9184"/>
                </a:solidFill>
                <a:latin typeface="Avenir Next"/>
              </a:rPr>
              <a:t>03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THE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C1916"/>
                </a:solidFill>
                <a:latin typeface="Georgia"/>
              </a:rPr>
              <a:t>One platform for your whole 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E665A"/>
                </a:solidFill>
                <a:latin typeface="Avenir Next"/>
              </a:rPr>
              <a:t>Website, menu, ordering, reservations, customers, and analytics — in one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89764"/>
                </a:solidFill>
                <a:latin typeface="Georgia"/>
              </a:rPr>
              <a:t>Premium guest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BE3D6"/>
                </a:solidFill>
                <a:latin typeface="Avenir Next"/>
              </a:rPr>
              <a:t>A branded site that matches your room — not a generic template.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92608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18211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89764"/>
                </a:solidFill>
                <a:latin typeface="Georgia"/>
              </a:rPr>
              <a:t>Live digital &amp; QR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0332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BE3D6"/>
                </a:solidFill>
                <a:latin typeface="Avenir Next"/>
              </a:rPr>
              <a:t>Publish once. Website, QR, and ordering stay in sync.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92608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18211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89764"/>
                </a:solidFill>
                <a:latin typeface="Georgia"/>
              </a:rPr>
              <a:t>Direct online ordering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70332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BE3D6"/>
                </a:solidFill>
                <a:latin typeface="Avenir Next"/>
              </a:rPr>
              <a:t>Pickup, delivery, and dine-in on your brand — keep the margin.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1772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7375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89764"/>
                </a:solidFill>
                <a:latin typeface="Georgia"/>
              </a:rPr>
              <a:t>Reservations that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BE3D6"/>
                </a:solidFill>
                <a:latin typeface="Avenir Next"/>
              </a:rPr>
              <a:t>Online bookings with capacity rules, confirmations, and calendar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61772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87375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89764"/>
                </a:solidFill>
                <a:latin typeface="Georgia"/>
              </a:rPr>
              <a:t>Owner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3949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BE3D6"/>
                </a:solidFill>
                <a:latin typeface="Avenir Next"/>
              </a:rPr>
              <a:t>Menus, orders, bookings, guests, and analytics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617720"/>
            <a:ext cx="3520440" cy="1508760"/>
          </a:xfrm>
          <a:prstGeom prst="roundRect">
            <a:avLst>
              <a:gd name="adj" fmla="val 6000"/>
            </a:avLst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873752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89764"/>
                </a:solidFill>
                <a:latin typeface="Georgia"/>
              </a:rPr>
              <a:t>NZ-first 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949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EBE3D6"/>
                </a:solidFill>
                <a:latin typeface="Avenir Next"/>
              </a:rPr>
              <a:t>Timezone, GST-aware pricing mindset, and Aotearoa hospitality 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7490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2004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9184"/>
                </a:solidFill>
                <a:latin typeface="Avenir Next"/>
              </a:rPr>
              <a:t>04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GUEST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70432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C1916"/>
                </a:solidFill>
                <a:latin typeface="Georgia"/>
              </a:rPr>
              <a:t>From first visit to regular.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A7B4A"/>
                </a:solidFill>
                <a:latin typeface="Avenir Nex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C1916"/>
                </a:solidFill>
                <a:latin typeface="Georgia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A premium branded site guests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803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B89764"/>
                </a:solidFill>
                <a:latin typeface="Avenir Nex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10312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A7B4A"/>
                </a:solidFill>
                <a:latin typeface="Avenir Nex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C1916"/>
                </a:solidFill>
                <a:latin typeface="Georgia"/>
              </a:rPr>
              <a:t>Browse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Live menu with dietary filters and allergen notes.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8803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B89764"/>
                </a:solidFill>
                <a:latin typeface="Avenir Nex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10312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286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A7B4A"/>
                </a:solidFill>
                <a:latin typeface="Avenir Nex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C1916"/>
                </a:solidFill>
                <a:latin typeface="Georgia"/>
              </a:rPr>
              <a:t>Order / Reserve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Checkout or book a table — without leaving your brand.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88036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B89764"/>
                </a:solidFill>
                <a:latin typeface="Avenir Next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0312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2860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9A7B4A"/>
                </a:solidFill>
                <a:latin typeface="Avenir Nex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69748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C1916"/>
                </a:solidFill>
                <a:latin typeface="Georgia"/>
              </a:rPr>
              <a:t>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Guest history and timely follow-ups bring them back.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" y="4517136"/>
            <a:ext cx="2761488" cy="1801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6C6"/>
            </a:solidFill>
          </a:ln>
          <a:effectLst>
            <a:outerShdw blurRad="63500" dist="38100" dir="2700000" algn="tl" rotWithShape="0">
              <a:srgbClr val="1C191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2-harbour-kit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0"/>
            <a:ext cx="2651760" cy="169164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419856" y="4517136"/>
            <a:ext cx="2761488" cy="1801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6C6"/>
            </a:solidFill>
          </a:ln>
          <a:effectLst>
            <a:outerShdw blurRad="63500" dist="38100" dir="2700000" algn="tl" rotWithShape="0">
              <a:srgbClr val="1C191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2b-harbour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72000"/>
            <a:ext cx="2651760" cy="169164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254496" y="4517136"/>
            <a:ext cx="2761488" cy="1801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6C6"/>
            </a:solidFill>
          </a:ln>
          <a:effectLst>
            <a:outerShdw blurRad="63500" dist="38100" dir="2700000" algn="tl" rotWithShape="0">
              <a:srgbClr val="1C191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2c-harbour-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572000"/>
            <a:ext cx="2651760" cy="169164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089136" y="4517136"/>
            <a:ext cx="2761488" cy="1801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6C6"/>
            </a:solidFill>
          </a:ln>
          <a:effectLst>
            <a:outerShdw blurRad="63500" dist="38100" dir="2700000" algn="tl" rotWithShape="0">
              <a:srgbClr val="1C191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2d-harbour-reserv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572000"/>
            <a:ext cx="265176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2062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6576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9184"/>
                </a:solidFill>
                <a:latin typeface="Avenir Next"/>
              </a:rPr>
              <a:t>05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DIRECT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000" b="1" i="0">
                <a:solidFill>
                  <a:srgbClr val="1C1916"/>
                </a:solidFill>
                <a:latin typeface="Georgia"/>
              </a:rPr>
              <a:t>Keep customers ordering
and booking on your brand.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E665A"/>
                </a:solidFill>
                <a:latin typeface="Avenir Next"/>
              </a:rPr>
              <a:t>Direct orders and bookings reduce aggregator fees on guests you already attract.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73152" cy="50292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C1916"/>
                </a:solidFill>
                <a:latin typeface="Georgia"/>
              </a:rPr>
              <a:t>Convert more visitors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Order Now and Reserve sit on a premium site guests trust.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40"/>
            <a:ext cx="73152" cy="50292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77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C1916"/>
                </a:solidFill>
                <a:latin typeface="Georgia"/>
              </a:rPr>
              <a:t>Keep margin in-house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Guests stay with you instead of leaking to third-party marketplaces.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9160"/>
            <a:ext cx="73152" cy="50292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C1916"/>
                </a:solidFill>
                <a:latin typeface="Georgia"/>
              </a:rPr>
              <a:t>Fill quiet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Live menu, offers, and analytics help shape lunch and midweek demand.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440680"/>
            <a:ext cx="73152" cy="50292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C1916"/>
                </a:solidFill>
                <a:latin typeface="Georgia"/>
              </a:rPr>
              <a:t>Turn covers 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15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665A"/>
                </a:solidFill>
                <a:latin typeface="Avenir Next"/>
              </a:rPr>
              <a:t>QR menus and clear ordering cut friction from table to kitchen.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3096" y="1499616"/>
            <a:ext cx="5047488" cy="4544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6C6"/>
            </a:solidFill>
          </a:ln>
          <a:effectLst>
            <a:outerShdw blurRad="63500" dist="38100" dir="2700000" algn="tl" rotWithShape="0">
              <a:srgbClr val="1C191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2c-harbour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54480"/>
            <a:ext cx="493776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2062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6576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9184"/>
                </a:solidFill>
                <a:latin typeface="Avenir Next"/>
              </a:rPr>
              <a:t>06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C1916"/>
                </a:solidFill>
                <a:latin typeface="Georgia"/>
              </a:rPr>
              <a:t>One dashboard
to run the 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E665A"/>
                </a:solidFill>
                <a:latin typeface="Avenir Next"/>
              </a:rPr>
              <a:t>Menus, orders, reservations, customers, analytics, website, QR, and team — without hopping between apps.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—  Live menu control — publish once, stay in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—  Orders and reservations in one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—  Capacity rules you control from the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—  Fewer tools. Fewer errors. Calmer service.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453896"/>
            <a:ext cx="5184648" cy="4590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6C6"/>
            </a:solidFill>
          </a:ln>
          <a:effectLst>
            <a:outerShdw blurRad="63500" dist="38100" dir="2700000" algn="tl" rotWithShape="0">
              <a:srgbClr val="1C191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074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2062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6576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6F1E8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665A"/>
                </a:solidFill>
                <a:latin typeface="Avenir Next"/>
              </a:rPr>
              <a:t>07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89764"/>
                </a:solidFill>
                <a:latin typeface="Avenir Next"/>
              </a:rPr>
              <a:t>CUSTOMER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6F1E8"/>
                </a:solidFill>
                <a:latin typeface="Georgia"/>
              </a:rPr>
              <a:t>Turn one-time guests into regulars.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A9184"/>
                </a:solidFill>
                <a:latin typeface="Avenir Next"/>
              </a:rPr>
              <a:t>Guest profiles, history, and timely follow-ups turn one-offs into people who come 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2E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3520440" cy="381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4C098"/>
                </a:solidFill>
                <a:latin typeface="Georgia"/>
              </a:rPr>
              <a:t>Know who walked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EBE3D6"/>
                </a:solidFill>
                <a:latin typeface="Avenir Next"/>
              </a:rPr>
              <a:t>Unified guest profiles from orders and reservations — not inbox scraps.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47472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2E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74720"/>
            <a:ext cx="3520440" cy="381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79476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4C098"/>
                </a:solidFill>
                <a:latin typeface="Georgia"/>
              </a:rPr>
              <a:t>Serve them 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43484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EBE3D6"/>
                </a:solidFill>
                <a:latin typeface="Avenir Next"/>
              </a:rPr>
              <a:t>History at hand during a busy service, so regulars feel recognised.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47472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2E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474720"/>
            <a:ext cx="3520440" cy="381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4C098"/>
                </a:solidFill>
                <a:latin typeface="Georgia"/>
              </a:rPr>
              <a:t>Earn the next visit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34840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EBE3D6"/>
                </a:solidFill>
                <a:latin typeface="Avenir Next"/>
              </a:rPr>
              <a:t>Own the relationship on your brand, not on someone else’s marketplace.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2062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6576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9184"/>
                </a:solidFill>
                <a:latin typeface="Avenir Next"/>
              </a:rPr>
              <a:t>08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C1916"/>
                </a:solidFill>
                <a:latin typeface="Georgia"/>
              </a:rPr>
              <a:t>Stop guessing.
Start seeing.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E665A"/>
                </a:solidFill>
                <a:latin typeface="Avenir Next"/>
              </a:rPr>
              <a:t>Revenue, AOV, bestsellers, reservations, and conversion funnel — facts from your venue data. Never invented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9A7B4A"/>
                </a:solidFill>
                <a:latin typeface="Georgia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5661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What the room actually made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9A7B4A"/>
                </a:solidFill>
                <a:latin typeface="Georgia"/>
              </a:rPr>
              <a:t>AOV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How tickets are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9A7B4A"/>
                </a:solidFill>
                <a:latin typeface="Georgia"/>
              </a:rPr>
              <a:t>Bestsellers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846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What to push — and 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9A7B4A"/>
                </a:solidFill>
                <a:latin typeface="Georgia"/>
              </a:rPr>
              <a:t>Funnel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4864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Where guests drop 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453896"/>
            <a:ext cx="5184648" cy="45902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0D6C6"/>
            </a:solidFill>
          </a:ln>
          <a:effectLst>
            <a:outerShdw blurRad="63500" dist="38100" dir="2700000" algn="tl" rotWithShape="0">
              <a:srgbClr val="1C191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3-dashboard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5074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7490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32004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C1916"/>
                </a:solidFill>
                <a:latin typeface="Georgia"/>
              </a:rPr>
              <a:t>RR 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A9184"/>
                </a:solidFill>
                <a:latin typeface="Avenir Next"/>
              </a:rPr>
              <a:t>09  /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9A7B4A"/>
                </a:solidFill>
                <a:latin typeface="Avenir Next"/>
              </a:rPr>
              <a:t>THE 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" cy="254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C1916"/>
                </a:solidFill>
                <a:latin typeface="Georgia"/>
              </a:rPr>
              <a:t>Before vs after RR NOVA.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E0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8C5A4A"/>
                </a:solidFill>
                <a:latin typeface="Georgia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✕   5–10 logins every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✕   Stale menus &amp; broken booking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✕   Aggregator fees eating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✕   Guest data trapped in inboxes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✕   Managers flying blind on covers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57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2621"/>
                </a:solidFill>
                <a:latin typeface="Avenir Next"/>
              </a:rPr>
              <a:t>✕   Marketing is an afterthought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19456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4231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B89764"/>
                </a:solidFill>
                <a:latin typeface="Georgia"/>
              </a:rPr>
              <a:t>After RR NOVA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971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6F1E8"/>
                </a:solidFill>
                <a:latin typeface="Avenir Next"/>
              </a:rPr>
              <a:t>✓   One dashboard for the whole 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6F1E8"/>
                </a:solidFill>
                <a:latin typeface="Avenir Next"/>
              </a:rPr>
              <a:t>✓   Live menu, QR, and site in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886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6F1E8"/>
                </a:solidFill>
                <a:latin typeface="Avenir Next"/>
              </a:rPr>
              <a:t>✓   Direct orders with secure 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343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6F1E8"/>
                </a:solidFill>
                <a:latin typeface="Avenir Next"/>
              </a:rPr>
              <a:t>✓   Unified guest profiles &amp;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800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6F1E8"/>
                </a:solidFill>
                <a:latin typeface="Avenir Next"/>
              </a:rPr>
              <a:t>✓   Live boards for kitchen &amp; floor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57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6F1E8"/>
                </a:solidFill>
                <a:latin typeface="Avenir Next"/>
              </a:rPr>
              <a:t>✓   Analytics guiding real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663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411480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6F1E8"/>
                </a:solidFill>
                <a:latin typeface="Georgia"/>
              </a:rPr>
              <a:t>RR 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E665A"/>
                </a:solidFill>
                <a:latin typeface="Avenir Next"/>
              </a:rPr>
              <a:t>10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9764"/>
                </a:solidFill>
                <a:latin typeface="Avenir Next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6F1E8"/>
                </a:solidFill>
                <a:latin typeface="Georgia"/>
              </a:rPr>
              <a:t>What could this look like
for your restaurant?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9A9184"/>
                </a:solidFill>
                <a:latin typeface="Avenir Next"/>
              </a:rPr>
              <a:t>Explore the Harbour Kitchen live demo — or start your own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4754880" cy="594360"/>
          </a:xfrm>
          <a:prstGeom prst="roundRect">
            <a:avLst>
              <a:gd name="adj" fmla="val 12000"/>
            </a:avLst>
          </a:prstGeom>
          <a:solidFill>
            <a:srgbClr val="B89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73168"/>
            <a:ext cx="4754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1C1916"/>
                </a:solidFill>
                <a:latin typeface="Avenir Next"/>
              </a:rPr>
              <a:t>restaurant-digital-platform-beige.vercel.app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665A"/>
                </a:solidFill>
                <a:latin typeface="Avenir Next"/>
              </a:rPr>
              <a:t>Platform home  ·  Guest site /r/harbour-kitchen  ·  Owner dashboard /dashboard/menus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D4C098"/>
                </a:solidFill>
                <a:latin typeface="Avenir Next"/>
              </a:rPr>
              <a:t>RR NOVA  ·  Your restaurant. Your customers. Your data. One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